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8040-5A3D-04B4-679D-E7AEE8D3F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C3D67-B9EC-78DC-1EC6-6AA6147D5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E886A-56BE-6659-04AF-F85B4C19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AE61D-E352-95E8-35BD-F9E108B8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49BAF-F0D4-4F9F-D313-E212D934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42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C2CE-DED7-EBFF-3EA3-DBDB57DD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6955A-B8F3-59EF-FB2E-9501EA7D5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DCFD7-6A7C-5212-A162-0F32728C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BC401-033E-703F-DD07-DD865CA6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2F7D2-E4CD-B6BF-ECFA-FF55B865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3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DBA7-111A-BD0A-778E-896A5201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96BB0-5B04-4989-9D01-234BE463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B62C-8411-F16E-7206-466522927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11FF-F298-EC15-3670-BF427F8F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7EEF2-12BE-06B3-5143-9093BBE9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0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19E7-2E92-572D-AF40-DC8DB3A3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01937-5C8F-26A1-77BA-C9D8F14A1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682C0-1749-8425-BE2B-51C0D4D77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EF908-1DBA-ACCA-4017-71B6684C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A8277-9E0F-EE32-48F6-A7071B4FC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D28CA-983B-ECD1-5CF7-891352EA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3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F30F7-AD62-7011-76B9-134C62ACF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9FCE6-0A3B-9AFE-C71B-CF4E2869E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BA5B4-158C-F1ED-04FE-F00108220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79FEC-9A2F-27E6-4611-EA4963516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AB527-4AC0-2746-2F48-6A49C81B0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9A82F-75CB-AD08-9BFF-C6611F02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C87A4-B4AB-4756-9FD0-97367C96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85F23A-4116-0D1E-910F-13B696F7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1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2611-4715-332D-1A05-E7E9EB953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4CA04-DDE8-7571-DE18-7ABBD838E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9A568-7CE7-DFF0-6666-916F1371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FA1CB-47AA-D48F-208B-926B37C8C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4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8E360-981C-ADD4-EF28-9F32A1A4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ED6BEE-ECCD-1DA3-D391-1FD7C7EF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21E99-6008-6E5E-328B-781C52A8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5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7E3F5-1F90-D13B-32B9-BB97AB50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662F-1B64-4634-4FF6-56B550E0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D7B8C-1C4B-285E-D0B6-2C05ED0CC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B68F0-1947-25D8-10EC-4777D13A1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7F989-5B4C-5356-7B31-4184AE0C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5AE04-FB1B-B6E8-882F-09C7227F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F9D80-4675-4792-FCF9-BE0FBA0C7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912037-F391-BFBC-3DF0-1F2709355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22772-E718-A53B-6793-D08428218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8D08-E1BE-E4F0-7DC4-F14EFF84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51224-8CCA-7E6B-008F-6AD96797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D1BBF-81AA-61B6-79B3-21FA0A73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7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59B1-AD4D-05FB-2D22-923A89925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3A34C-4F9A-AA64-ED04-454FB1A1A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BC32F-8DB8-323A-4394-6D0C6E81C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9BF63-86F1-9700-0754-A93F3087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75A4F-C835-69DD-9A2D-F493F623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13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B2210-240D-C2E0-B25A-EF6C68DE3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A7A86-983F-EF29-B465-6DCD31646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C79C-7DA8-F14C-7482-4075323D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55C10-5F94-1F67-76A8-9B246EA5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7760-BCBA-322B-2C8F-1C766FBC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9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4CE15-3ACC-1080-377E-06D4F038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2730E-5243-A5CE-E5B7-56AF1B385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D56F-0C13-5E30-5DB2-22F6AE539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CA00E-1274-42A3-A4E4-810966A7A5BE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1AFE-7DE5-E05F-2046-720AE4381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186DC-B754-B793-DB03-5A34F926C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272AC-9B2C-4346-9592-3B3F15114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4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ublic.tableau.com/app/profile/emmanuel.korankye/viz/GoogleDataAnalyticsCapstoneCyclisticbikeshareanalysis/BikeShareDashboard#1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public.tableau.com/app/profile/emmanuel.korankye/viz/GoogleDataAnalyticsCapstoneCyclisticbikeshareanalysis/BikeShareDashboard#1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ublic.tableau.com/app/profile/emmanuel.korankye/viz/GoogleDataAnalyticsCapstoneCyclisticbikeshareanalysis/BikeShareDashboard#1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6.png"/><Relationship Id="rId4" Type="http://schemas.openxmlformats.org/officeDocument/2006/relationships/hyperlink" Target="https://public.tableau.com/app/profile/emmanuel.korankye/viz/GoogleDataAnalyticsCapstoneCyclisticbikeshareanalysis/BikeShareDashboard#1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A2CDD6-FFEE-731E-1FFE-700C02E8A48A}"/>
              </a:ext>
            </a:extLst>
          </p:cNvPr>
          <p:cNvSpPr/>
          <p:nvPr/>
        </p:nvSpPr>
        <p:spPr>
          <a:xfrm>
            <a:off x="0" y="5652655"/>
            <a:ext cx="12192000" cy="120534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KORANKYE EMMANUEL BOADI</a:t>
            </a:r>
            <a:r>
              <a:rPr lang="en-US" sz="1400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</a:t>
            </a:r>
            <a:r>
              <a:rPr lang="en-US" dirty="0"/>
              <a:t>       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r>
              <a:rPr lang="en-US" dirty="0">
                <a:solidFill>
                  <a:srgbClr val="CADCF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Data Analytics Certificate Capstone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	│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Divvy Tripps Q1 2019 &amp; Q1 2020 </a:t>
            </a: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69D0E-2E85-8EA2-996F-E9B176BCA714}"/>
              </a:ext>
            </a:extLst>
          </p:cNvPr>
          <p:cNvSpPr/>
          <p:nvPr/>
        </p:nvSpPr>
        <p:spPr>
          <a:xfrm>
            <a:off x="0" y="0"/>
            <a:ext cx="554182" cy="5652655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77A8C7-0638-4AF3-1A1E-364BC4F6BCC4}"/>
              </a:ext>
            </a:extLst>
          </p:cNvPr>
          <p:cNvSpPr/>
          <p:nvPr/>
        </p:nvSpPr>
        <p:spPr>
          <a:xfrm>
            <a:off x="554182" y="0"/>
            <a:ext cx="11637818" cy="5652655"/>
          </a:xfrm>
          <a:prstGeom prst="rect">
            <a:avLst/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ridership data differ between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members and casual riders, and how to convert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riders into annual riders?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45CDA-6D87-9679-351C-CCEA55EBF257}"/>
              </a:ext>
            </a:extLst>
          </p:cNvPr>
          <p:cNvSpPr txBox="1"/>
          <p:nvPr/>
        </p:nvSpPr>
        <p:spPr>
          <a:xfrm>
            <a:off x="886690" y="1177935"/>
            <a:ext cx="8303491" cy="1691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CYCLISTIC BIKE SHARE ANALYSIS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GOOGLE DATA ANALYTICS CASE STUDY</a:t>
            </a:r>
          </a:p>
          <a:p>
            <a:pPr>
              <a:lnSpc>
                <a:spcPct val="150000"/>
              </a:lnSpc>
            </a:pPr>
            <a:r>
              <a:rPr lang="en-US" sz="2400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uhaus 93" panose="04030905020B02020C02" pitchFamily="82" charset="0"/>
              </a:rPr>
              <a:t> 					           	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CFC8688-5E55-F57E-FC0D-F919D2BA0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123" y="622415"/>
            <a:ext cx="210312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0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B942FA-B829-9FFB-3983-45E5F26C25A0}"/>
              </a:ext>
            </a:extLst>
          </p:cNvPr>
          <p:cNvSpPr/>
          <p:nvPr/>
        </p:nvSpPr>
        <p:spPr>
          <a:xfrm>
            <a:off x="0" y="0"/>
            <a:ext cx="12192000" cy="1104900"/>
          </a:xfrm>
          <a:prstGeom prst="rect">
            <a:avLst/>
          </a:prstGeom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AGENDA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C54099-B91F-C7D7-A6CE-639337B9EFB5}"/>
              </a:ext>
            </a:extLst>
          </p:cNvPr>
          <p:cNvSpPr>
            <a:spLocks noChangeAspect="1"/>
          </p:cNvSpPr>
          <p:nvPr/>
        </p:nvSpPr>
        <p:spPr>
          <a:xfrm>
            <a:off x="504825" y="1590674"/>
            <a:ext cx="5438775" cy="1476375"/>
          </a:xfrm>
          <a:prstGeom prst="round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92D050"/>
                </a:solidFill>
              </a:rPr>
              <a:t>01</a:t>
            </a:r>
            <a:r>
              <a:rPr lang="en-US" sz="2000" b="1" dirty="0">
                <a:solidFill>
                  <a:schemeClr val="tx1"/>
                </a:solidFill>
              </a:rPr>
              <a:t>  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QUESTION</a:t>
            </a:r>
          </a:p>
          <a:p>
            <a:endParaRPr lang="en-US" sz="2000" b="1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analysis matters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73C7EC-5800-B4D2-B23E-C2618C7C153B}"/>
              </a:ext>
            </a:extLst>
          </p:cNvPr>
          <p:cNvSpPr/>
          <p:nvPr/>
        </p:nvSpPr>
        <p:spPr>
          <a:xfrm>
            <a:off x="428623" y="3305174"/>
            <a:ext cx="5438775" cy="1476375"/>
          </a:xfrm>
          <a:prstGeom prst="roundRect">
            <a:avLst/>
          </a:prstGeom>
          <a:solidFill>
            <a:schemeClr val="bg1"/>
          </a:solidFill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92D050"/>
                </a:solidFill>
                <a:ea typeface="Cambria" panose="02040503050406030204" pitchFamily="18" charset="0"/>
              </a:rPr>
              <a:t>02</a:t>
            </a:r>
            <a:r>
              <a:rPr lang="en-US" b="1" dirty="0">
                <a:solidFill>
                  <a:schemeClr val="tx1"/>
                </a:solidFill>
                <a:ea typeface="Cambria" panose="02040503050406030204" pitchFamily="18" charset="0"/>
              </a:rPr>
              <a:t>   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SOURCES &amp; PREPARATION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tx1"/>
                </a:solidFill>
                <a:ea typeface="Cambria" panose="02040503050406030204" pitchFamily="18" charset="0"/>
              </a:rPr>
              <a:t>              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Q1 2019 + Q1 2020 datasets</a:t>
            </a: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Cleaning process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ECF436-1B9D-F099-C13D-EB2107DCD19C}"/>
              </a:ext>
            </a:extLst>
          </p:cNvPr>
          <p:cNvSpPr/>
          <p:nvPr/>
        </p:nvSpPr>
        <p:spPr>
          <a:xfrm>
            <a:off x="428624" y="5019674"/>
            <a:ext cx="5438774" cy="1323975"/>
          </a:xfrm>
          <a:prstGeom prst="round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sz="3200" b="1" dirty="0">
                <a:solidFill>
                  <a:srgbClr val="92D050"/>
                </a:solidFill>
                <a:ea typeface="Cambria" panose="02040503050406030204" pitchFamily="18" charset="0"/>
              </a:rPr>
              <a:t>03</a:t>
            </a: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FINDINGS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Ride volume, duration, and temporal patterns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8EC281-E54C-7CD9-23EC-621AE0D1D6CE}"/>
              </a:ext>
            </a:extLst>
          </p:cNvPr>
          <p:cNvSpPr/>
          <p:nvPr/>
        </p:nvSpPr>
        <p:spPr>
          <a:xfrm>
            <a:off x="6334127" y="5048249"/>
            <a:ext cx="5133975" cy="1295399"/>
          </a:xfrm>
          <a:prstGeom prst="round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92D050"/>
                </a:solidFill>
              </a:rPr>
              <a:t>06</a:t>
            </a:r>
            <a:r>
              <a:rPr lang="en-US" sz="3200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 STEPS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Proposed path forward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4357EC-D918-C638-AB02-2746D562C384}"/>
              </a:ext>
            </a:extLst>
          </p:cNvPr>
          <p:cNvSpPr/>
          <p:nvPr/>
        </p:nvSpPr>
        <p:spPr>
          <a:xfrm>
            <a:off x="6324602" y="3305174"/>
            <a:ext cx="5133975" cy="1343025"/>
          </a:xfrm>
          <a:prstGeom prst="round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92D050"/>
                </a:solidFill>
              </a:rPr>
              <a:t>05</a:t>
            </a:r>
            <a:r>
              <a:rPr lang="en-US" dirty="0">
                <a:solidFill>
                  <a:srgbClr val="92D05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   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Three data-backed strategies for marketing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83CA0C2-5B69-07D4-DAC3-BA6280836B27}"/>
              </a:ext>
            </a:extLst>
          </p:cNvPr>
          <p:cNvSpPr/>
          <p:nvPr/>
        </p:nvSpPr>
        <p:spPr>
          <a:xfrm>
            <a:off x="6324602" y="1590675"/>
            <a:ext cx="5133975" cy="1476374"/>
          </a:xfrm>
          <a:prstGeom prst="round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sz="3200" b="1" dirty="0">
                <a:solidFill>
                  <a:srgbClr val="92D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04</a:t>
            </a:r>
            <a:r>
              <a:rPr lang="en-US" sz="32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Charts were built in tableau public</a:t>
            </a:r>
          </a:p>
        </p:txBody>
      </p:sp>
    </p:spTree>
    <p:extLst>
      <p:ext uri="{BB962C8B-B14F-4D97-AF65-F5344CB8AC3E}">
        <p14:creationId xmlns:p14="http://schemas.microsoft.com/office/powerpoint/2010/main" val="97329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C9A3F-98F5-A952-2F42-C15FFAE5D65C}"/>
              </a:ext>
            </a:extLst>
          </p:cNvPr>
          <p:cNvSpPr/>
          <p:nvPr/>
        </p:nvSpPr>
        <p:spPr>
          <a:xfrm>
            <a:off x="0" y="0"/>
            <a:ext cx="12192000" cy="1009650"/>
          </a:xfrm>
          <a:prstGeom prst="rect">
            <a:avLst/>
          </a:prstGeom>
          <a:solidFill>
            <a:schemeClr val="accent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BUSINESS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C1483-7102-5EE3-C1DB-6DC47A328BC7}"/>
              </a:ext>
            </a:extLst>
          </p:cNvPr>
          <p:cNvSpPr/>
          <p:nvPr/>
        </p:nvSpPr>
        <p:spPr>
          <a:xfrm>
            <a:off x="219075" y="1343025"/>
            <a:ext cx="3476625" cy="47910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Chicago ride share company founded in 2016 with 5,800 bikes and over 600 docking stations across Chicago. Engages in single ride pass, full-day ride passes and annual memberships.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0C192F-E4CA-3E06-18A9-5E2D55198E93}"/>
              </a:ext>
            </a:extLst>
          </p:cNvPr>
          <p:cNvSpPr/>
          <p:nvPr/>
        </p:nvSpPr>
        <p:spPr>
          <a:xfrm>
            <a:off x="4357687" y="1362074"/>
            <a:ext cx="3476625" cy="4791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Casual riders purchase single-day rides or full-day passes. Annual members purchase annual subscriptions to access Cyclistic service.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15646-10EB-03C0-C0D9-2AC1CA2D9A98}"/>
              </a:ext>
            </a:extLst>
          </p:cNvPr>
          <p:cNvSpPr/>
          <p:nvPr/>
        </p:nvSpPr>
        <p:spPr>
          <a:xfrm>
            <a:off x="8486775" y="1371600"/>
            <a:ext cx="3476625" cy="4791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analysts confirm annual members purchase more services and hence are more profitable. The marketing team wants to convert more casual riders into annual riders - but needs to determine how they differ first.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59BA70-AF90-AB8C-C161-EB0041ABAF60}"/>
              </a:ext>
            </a:extLst>
          </p:cNvPr>
          <p:cNvSpPr/>
          <p:nvPr/>
        </p:nvSpPr>
        <p:spPr>
          <a:xfrm>
            <a:off x="104775" y="6096000"/>
            <a:ext cx="12011025" cy="6858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Question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do annual members and casual riders use Cyclistic service differently?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AD49B-D577-89BB-FD18-980757FE406C}"/>
              </a:ext>
            </a:extLst>
          </p:cNvPr>
          <p:cNvSpPr/>
          <p:nvPr/>
        </p:nvSpPr>
        <p:spPr>
          <a:xfrm>
            <a:off x="209549" y="1333499"/>
            <a:ext cx="3486150" cy="685800"/>
          </a:xfrm>
          <a:prstGeom prst="rect">
            <a:avLst/>
          </a:prstGeom>
          <a:effectLst>
            <a:softEdge rad="1270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is Cyclistic?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D8F181-16BC-994F-D421-D6B4B425F290}"/>
              </a:ext>
            </a:extLst>
          </p:cNvPr>
          <p:cNvSpPr/>
          <p:nvPr/>
        </p:nvSpPr>
        <p:spPr>
          <a:xfrm>
            <a:off x="4348162" y="1343025"/>
            <a:ext cx="3486149" cy="685800"/>
          </a:xfrm>
          <a:prstGeom prst="rect">
            <a:avLst/>
          </a:prstGeom>
          <a:effectLst>
            <a:softEdge rad="1270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Rider Types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FE16DE-977B-AA16-20B4-1295ABC7E2B4}"/>
              </a:ext>
            </a:extLst>
          </p:cNvPr>
          <p:cNvSpPr/>
          <p:nvPr/>
        </p:nvSpPr>
        <p:spPr>
          <a:xfrm>
            <a:off x="8477251" y="1371600"/>
            <a:ext cx="3486149" cy="6858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Question</a:t>
            </a:r>
          </a:p>
        </p:txBody>
      </p:sp>
    </p:spTree>
    <p:extLst>
      <p:ext uri="{BB962C8B-B14F-4D97-AF65-F5344CB8AC3E}">
        <p14:creationId xmlns:p14="http://schemas.microsoft.com/office/powerpoint/2010/main" val="2310228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4A4FD8-B939-049E-ABE4-59E2EA614D18}"/>
              </a:ext>
            </a:extLst>
          </p:cNvPr>
          <p:cNvSpPr/>
          <p:nvPr/>
        </p:nvSpPr>
        <p:spPr>
          <a:xfrm>
            <a:off x="0" y="0"/>
            <a:ext cx="12192000" cy="1019175"/>
          </a:xfrm>
          <a:prstGeom prst="roundRect">
            <a:avLst/>
          </a:prstGeom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	DATA SOURCES &amp; PREPARATION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6D9A67-142F-7B60-930E-4341A5E0F393}"/>
              </a:ext>
            </a:extLst>
          </p:cNvPr>
          <p:cNvSpPr/>
          <p:nvPr/>
        </p:nvSpPr>
        <p:spPr>
          <a:xfrm>
            <a:off x="390525" y="1362075"/>
            <a:ext cx="5229226" cy="5267325"/>
          </a:xfrm>
          <a:prstGeom prst="roundRect">
            <a:avLst/>
          </a:prstGeom>
          <a:solidFill>
            <a:schemeClr val="bg1">
              <a:alpha val="98000"/>
            </a:schemeClr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Datasets Used</a:t>
            </a:r>
          </a:p>
          <a:p>
            <a:pPr lvl="1"/>
            <a:endParaRPr lang="en-US" b="1" dirty="0">
              <a:solidFill>
                <a:schemeClr val="accent5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2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Divvy / Motivate International</a:t>
            </a:r>
          </a:p>
          <a:p>
            <a:pPr>
              <a:lnSpc>
                <a:spcPct val="2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Q1 2019 &amp; Q1 2020</a:t>
            </a:r>
          </a:p>
          <a:p>
            <a:pPr>
              <a:lnSpc>
                <a:spcPct val="2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~788K trips</a:t>
            </a:r>
          </a:p>
          <a:p>
            <a:pPr>
              <a:lnSpc>
                <a:spcPct val="2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Two CSV files</a:t>
            </a:r>
          </a:p>
          <a:p>
            <a:pPr>
              <a:lnSpc>
                <a:spcPct val="2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License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Public, open data license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D54648-A63E-177F-1352-6FADB0EBB952}"/>
              </a:ext>
            </a:extLst>
          </p:cNvPr>
          <p:cNvSpPr/>
          <p:nvPr/>
        </p:nvSpPr>
        <p:spPr>
          <a:xfrm>
            <a:off x="6257924" y="1362074"/>
            <a:ext cx="5229226" cy="5267325"/>
          </a:xfrm>
          <a:prstGeom prst="round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Cleaning Steps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 column names between 2019 and 2020 schemas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member_casual labels (subscriber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Member. Customer → Casual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timestamps and computed ride_length in minutes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date, day, month, year and day_of_week columns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negative durations and HR QR quality-control entries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Dropped column names unavailable post 2020 (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lng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birthday, gender)</a:t>
            </a:r>
          </a:p>
        </p:txBody>
      </p:sp>
      <p:sp>
        <p:nvSpPr>
          <p:cNvPr id="8" name="Shape 16">
            <a:extLst>
              <a:ext uri="{FF2B5EF4-FFF2-40B4-BE49-F238E27FC236}">
                <a16:creationId xmlns:a16="http://schemas.microsoft.com/office/drawing/2014/main" id="{74D1C22F-D235-B447-8301-39507FFFD4AC}"/>
              </a:ext>
            </a:extLst>
          </p:cNvPr>
          <p:cNvSpPr/>
          <p:nvPr/>
        </p:nvSpPr>
        <p:spPr>
          <a:xfrm>
            <a:off x="6517005" y="228685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16">
            <a:extLst>
              <a:ext uri="{FF2B5EF4-FFF2-40B4-BE49-F238E27FC236}">
                <a16:creationId xmlns:a16="http://schemas.microsoft.com/office/drawing/2014/main" id="{D1BBE9BB-74E1-D313-2C8B-D48BFD96334C}"/>
              </a:ext>
            </a:extLst>
          </p:cNvPr>
          <p:cNvSpPr/>
          <p:nvPr/>
        </p:nvSpPr>
        <p:spPr>
          <a:xfrm>
            <a:off x="6521196" y="2927603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2BFE4493-2A2B-36E7-37C8-38DA4E642E81}"/>
              </a:ext>
            </a:extLst>
          </p:cNvPr>
          <p:cNvSpPr/>
          <p:nvPr/>
        </p:nvSpPr>
        <p:spPr>
          <a:xfrm>
            <a:off x="6525387" y="3705795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D728332F-CA4B-49F3-6E1E-34A3E82594A8}"/>
              </a:ext>
            </a:extLst>
          </p:cNvPr>
          <p:cNvSpPr/>
          <p:nvPr/>
        </p:nvSpPr>
        <p:spPr>
          <a:xfrm>
            <a:off x="6518021" y="4494511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1608ABB1-0ED3-10C0-F844-F42F83D55B01}"/>
              </a:ext>
            </a:extLst>
          </p:cNvPr>
          <p:cNvSpPr/>
          <p:nvPr/>
        </p:nvSpPr>
        <p:spPr>
          <a:xfrm>
            <a:off x="6527165" y="5898831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B346167D-BE2E-CC75-E697-70C0AFB2B74F}"/>
              </a:ext>
            </a:extLst>
          </p:cNvPr>
          <p:cNvSpPr/>
          <p:nvPr/>
        </p:nvSpPr>
        <p:spPr>
          <a:xfrm flipH="1" flipV="1">
            <a:off x="6517640" y="5107018"/>
            <a:ext cx="256413" cy="27908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15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921AA6-ECE1-60CD-B774-1461EAC4E5A0}"/>
              </a:ext>
            </a:extLst>
          </p:cNvPr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	</a:t>
            </a: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FINDING 1</a:t>
            </a:r>
            <a:r>
              <a:rPr lang="en-US" dirty="0">
                <a:solidFill>
                  <a:schemeClr val="bg1"/>
                </a:solidFill>
              </a:rPr>
              <a:t> :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RIDES BY DAY OF THE WEEK</a:t>
            </a:r>
            <a:r>
              <a:rPr lang="en-US" dirty="0"/>
              <a:t>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D7D72-A6B9-3651-552A-DE112B5E9356}"/>
              </a:ext>
            </a:extLst>
          </p:cNvPr>
          <p:cNvSpPr/>
          <p:nvPr/>
        </p:nvSpPr>
        <p:spPr>
          <a:xfrm>
            <a:off x="238125" y="1114425"/>
            <a:ext cx="8591550" cy="5419725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98255E-45A5-444E-E080-31A59F050B6F}"/>
              </a:ext>
            </a:extLst>
          </p:cNvPr>
          <p:cNvSpPr/>
          <p:nvPr/>
        </p:nvSpPr>
        <p:spPr>
          <a:xfrm>
            <a:off x="9184640" y="1350645"/>
            <a:ext cx="2505075" cy="17049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Members</a:t>
            </a:r>
          </a:p>
          <a:p>
            <a:pPr algn="ctr"/>
            <a:endParaRPr lang="en-US" dirty="0"/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Ride most on weekdays – Tuesday through Thursday peak. This is a commuter pattern</a:t>
            </a:r>
            <a:r>
              <a:rPr lang="en-US" sz="14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F33E5B1-2313-2E2B-8DE5-BB536A899A13}"/>
              </a:ext>
            </a:extLst>
          </p:cNvPr>
          <p:cNvSpPr/>
          <p:nvPr/>
        </p:nvSpPr>
        <p:spPr>
          <a:xfrm>
            <a:off x="9184640" y="4401820"/>
            <a:ext cx="2505075" cy="17049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Casual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Surge on weekends (Sat and Sun). Leisure and tourism drive their usage</a:t>
            </a:r>
          </a:p>
        </p:txBody>
      </p:sp>
      <p:pic>
        <p:nvPicPr>
          <p:cNvPr id="15" name="Picture 14">
            <a:hlinkClick r:id="rId2"/>
            <a:extLst>
              <a:ext uri="{FF2B5EF4-FFF2-40B4-BE49-F238E27FC236}">
                <a16:creationId xmlns:a16="http://schemas.microsoft.com/office/drawing/2014/main" id="{35505A62-0932-730F-23AD-6B10D8E1F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05" y="1134745"/>
            <a:ext cx="8561070" cy="53994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73169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64A0C3-FB76-8E55-59D4-4B36BB4BD667}"/>
              </a:ext>
            </a:extLst>
          </p:cNvPr>
          <p:cNvSpPr/>
          <p:nvPr/>
        </p:nvSpPr>
        <p:spPr>
          <a:xfrm>
            <a:off x="0" y="0"/>
            <a:ext cx="12192000" cy="10806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FINDING 2 :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RIDES BY RIDER TYPE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631E05-023C-F329-59E6-77266C9DAC2D}"/>
              </a:ext>
            </a:extLst>
          </p:cNvPr>
          <p:cNvSpPr/>
          <p:nvPr/>
        </p:nvSpPr>
        <p:spPr>
          <a:xfrm>
            <a:off x="748144" y="1274618"/>
            <a:ext cx="3574474" cy="1782618"/>
          </a:xfrm>
          <a:prstGeom prst="rect">
            <a:avLst/>
          </a:prstGeom>
          <a:effectLst>
            <a:softEdge rad="31750"/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8DFA06-5FF5-38F3-3340-042FDB00DE2D}"/>
              </a:ext>
            </a:extLst>
          </p:cNvPr>
          <p:cNvSpPr/>
          <p:nvPr/>
        </p:nvSpPr>
        <p:spPr>
          <a:xfrm>
            <a:off x="6751782" y="1274618"/>
            <a:ext cx="3823853" cy="1782618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67693-E7BD-2AFC-6A2B-1D8BC39B4867}"/>
              </a:ext>
            </a:extLst>
          </p:cNvPr>
          <p:cNvSpPr/>
          <p:nvPr/>
        </p:nvSpPr>
        <p:spPr>
          <a:xfrm>
            <a:off x="748144" y="3429000"/>
            <a:ext cx="9827491" cy="3429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809F8-5A2A-9BCB-57B9-362936C4A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43" y="3429000"/>
            <a:ext cx="9827491" cy="3429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620E31-05DF-96C1-58AC-E3D21D1654D2}"/>
              </a:ext>
            </a:extLst>
          </p:cNvPr>
          <p:cNvSpPr/>
          <p:nvPr/>
        </p:nvSpPr>
        <p:spPr>
          <a:xfrm>
            <a:off x="1080655" y="1597891"/>
            <a:ext cx="2964872" cy="646545"/>
          </a:xfrm>
          <a:prstGeom prst="rect">
            <a:avLst/>
          </a:prstGeom>
          <a:effectLst>
            <a:softEdge rad="31750"/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 52 min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8671EA-C34C-B2AC-6A33-6AA3262B6067}"/>
              </a:ext>
            </a:extLst>
          </p:cNvPr>
          <p:cNvSpPr/>
          <p:nvPr/>
        </p:nvSpPr>
        <p:spPr>
          <a:xfrm>
            <a:off x="7467600" y="1597890"/>
            <a:ext cx="2964872" cy="646545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 22 min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F026B-87A1-45CC-89A6-90023FA21E49}"/>
              </a:ext>
            </a:extLst>
          </p:cNvPr>
          <p:cNvSpPr/>
          <p:nvPr/>
        </p:nvSpPr>
        <p:spPr>
          <a:xfrm>
            <a:off x="962025" y="2400300"/>
            <a:ext cx="3228975" cy="552450"/>
          </a:xfrm>
          <a:prstGeom prst="rect">
            <a:avLst/>
          </a:prstGeom>
          <a:effectLst>
            <a:softEdge rad="31750"/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Casual avg. ride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Nearly 3x longer than members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D4074-A353-DE42-8449-5A17BDFE9644}"/>
              </a:ext>
            </a:extLst>
          </p:cNvPr>
          <p:cNvSpPr/>
          <p:nvPr/>
        </p:nvSpPr>
        <p:spPr>
          <a:xfrm>
            <a:off x="7049220" y="2400300"/>
            <a:ext cx="3228975" cy="552450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Members avg ride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Shorter, purposeful commute</a:t>
            </a:r>
          </a:p>
        </p:txBody>
      </p:sp>
    </p:spTree>
    <p:extLst>
      <p:ext uri="{BB962C8B-B14F-4D97-AF65-F5344CB8AC3E}">
        <p14:creationId xmlns:p14="http://schemas.microsoft.com/office/powerpoint/2010/main" val="416443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94B394-A47F-9258-12EA-484B7FB0A533}"/>
              </a:ext>
            </a:extLst>
          </p:cNvPr>
          <p:cNvSpPr/>
          <p:nvPr/>
        </p:nvSpPr>
        <p:spPr>
          <a:xfrm>
            <a:off x="0" y="1"/>
            <a:ext cx="12115800" cy="1127138"/>
          </a:xfrm>
          <a:prstGeom prst="rect">
            <a:avLst/>
          </a:prstGeom>
          <a:solidFill>
            <a:schemeClr val="accent6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FINDING 3 </a:t>
            </a:r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MONTHLY AND SEASONAL TRENDS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988A8-5DEA-5356-CF28-45D3F54E6096}"/>
              </a:ext>
            </a:extLst>
          </p:cNvPr>
          <p:cNvSpPr/>
          <p:nvPr/>
        </p:nvSpPr>
        <p:spPr>
          <a:xfrm>
            <a:off x="409575" y="1743074"/>
            <a:ext cx="7667624" cy="49625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4171F2-B8DE-4F2D-D912-8D770BEB9E75}"/>
              </a:ext>
            </a:extLst>
          </p:cNvPr>
          <p:cNvSpPr/>
          <p:nvPr/>
        </p:nvSpPr>
        <p:spPr>
          <a:xfrm>
            <a:off x="9020177" y="1743073"/>
            <a:ext cx="2952749" cy="496252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What this shows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chemeClr val="tx1"/>
                </a:solidFill>
              </a:rPr>
              <a:t>March is the highest month in both years</a:t>
            </a:r>
          </a:p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chemeClr val="tx1"/>
                </a:solidFill>
              </a:rPr>
              <a:t>Members dominate all months in both years</a:t>
            </a:r>
          </a:p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chemeClr val="tx1"/>
                </a:solidFill>
              </a:rPr>
              <a:t>Casual rides rise ~25% YoY in March</a:t>
            </a:r>
          </a:p>
          <a:p>
            <a:pPr lvl="1">
              <a:lnSpc>
                <a:spcPct val="200000"/>
              </a:lnSpc>
            </a:pPr>
            <a:r>
              <a:rPr lang="en-US" sz="1400" dirty="0">
                <a:solidFill>
                  <a:schemeClr val="tx1"/>
                </a:solidFill>
              </a:rPr>
              <a:t>Q1 saw a major growth – probably due to pre-COVID growth burst </a:t>
            </a:r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B7E2244A-B2AA-5957-1840-DC3B1E07E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1743072"/>
            <a:ext cx="7667624" cy="49625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37FA1ECE-E1E4-A867-B659-191EF7DCA32D}"/>
              </a:ext>
            </a:extLst>
          </p:cNvPr>
          <p:cNvSpPr/>
          <p:nvPr/>
        </p:nvSpPr>
        <p:spPr>
          <a:xfrm>
            <a:off x="9191625" y="2806255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00C10F0-B759-ED56-1526-3A55AE021376}"/>
              </a:ext>
            </a:extLst>
          </p:cNvPr>
          <p:cNvSpPr/>
          <p:nvPr/>
        </p:nvSpPr>
        <p:spPr>
          <a:xfrm>
            <a:off x="9191625" y="5357571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E024151-CDF0-6EB1-62A9-F8FAEAF1FB51}"/>
              </a:ext>
            </a:extLst>
          </p:cNvPr>
          <p:cNvSpPr/>
          <p:nvPr/>
        </p:nvSpPr>
        <p:spPr>
          <a:xfrm>
            <a:off x="9191625" y="44666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14333C6-B608-A2E0-2A3A-EA2F811DBED3}"/>
              </a:ext>
            </a:extLst>
          </p:cNvPr>
          <p:cNvSpPr/>
          <p:nvPr/>
        </p:nvSpPr>
        <p:spPr>
          <a:xfrm>
            <a:off x="9191625" y="3623357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049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4262D9-D375-49B5-9252-89BF29A1FA88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6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FINDING 4 :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RIDER COMPOSITION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C42AEE-E34A-0E2D-AFC9-E236B443226D}"/>
              </a:ext>
            </a:extLst>
          </p:cNvPr>
          <p:cNvSpPr/>
          <p:nvPr/>
        </p:nvSpPr>
        <p:spPr>
          <a:xfrm>
            <a:off x="238125" y="1724025"/>
            <a:ext cx="6038850" cy="4876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B925D0-6A53-58DD-31FD-E5BB544D3F74}"/>
              </a:ext>
            </a:extLst>
          </p:cNvPr>
          <p:cNvSpPr/>
          <p:nvPr/>
        </p:nvSpPr>
        <p:spPr>
          <a:xfrm>
            <a:off x="7115175" y="1724026"/>
            <a:ext cx="2095500" cy="1981199"/>
          </a:xfrm>
          <a:prstGeom prst="rect">
            <a:avLst/>
          </a:prstGeom>
          <a:solidFill>
            <a:schemeClr val="bg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77 %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all rides taken by</a:t>
            </a:r>
          </a:p>
          <a:p>
            <a:pPr algn="ctr"/>
            <a:endParaRPr lang="en-US" sz="1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annual members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0AE7B-CCFB-D605-365E-61B85B9611C2}"/>
              </a:ext>
            </a:extLst>
          </p:cNvPr>
          <p:cNvSpPr/>
          <p:nvPr/>
        </p:nvSpPr>
        <p:spPr>
          <a:xfrm>
            <a:off x="10010775" y="4638675"/>
            <a:ext cx="2095500" cy="1847850"/>
          </a:xfrm>
          <a:prstGeom prst="rect">
            <a:avLst/>
          </a:prstGeom>
          <a:solidFill>
            <a:schemeClr val="bg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2x</a:t>
            </a:r>
            <a:r>
              <a:rPr lang="en-US" sz="3200" dirty="0">
                <a:solidFill>
                  <a:schemeClr val="accent6"/>
                </a:solidFill>
              </a:rPr>
              <a:t> </a:t>
            </a:r>
            <a:endParaRPr lang="en-US" dirty="0">
              <a:solidFill>
                <a:schemeClr val="accent6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 rate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of weekend casual rides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7F036-725D-B576-374A-EBEB91972FCE}"/>
              </a:ext>
            </a:extLst>
          </p:cNvPr>
          <p:cNvSpPr/>
          <p:nvPr/>
        </p:nvSpPr>
        <p:spPr>
          <a:xfrm>
            <a:off x="9982200" y="1724025"/>
            <a:ext cx="2095500" cy="1981200"/>
          </a:xfrm>
          <a:prstGeom prst="rect">
            <a:avLst/>
          </a:prstGeom>
          <a:solidFill>
            <a:schemeClr val="bg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en-US" sz="32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23 %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of all rides taken by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 casual members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C92429-90A1-F3A8-91A6-2A2F1948CB87}"/>
              </a:ext>
            </a:extLst>
          </p:cNvPr>
          <p:cNvSpPr/>
          <p:nvPr/>
        </p:nvSpPr>
        <p:spPr>
          <a:xfrm>
            <a:off x="7115175" y="4638675"/>
            <a:ext cx="2095500" cy="1847850"/>
          </a:xfrm>
          <a:prstGeom prst="rect">
            <a:avLst/>
          </a:prstGeom>
          <a:solidFill>
            <a:schemeClr val="bg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3x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longer rides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For casual vs members avg</a:t>
            </a:r>
          </a:p>
        </p:txBody>
      </p:sp>
      <p:pic>
        <p:nvPicPr>
          <p:cNvPr id="10" name="Picture 9">
            <a:hlinkClick r:id="rId2"/>
            <a:extLst>
              <a:ext uri="{FF2B5EF4-FFF2-40B4-BE49-F238E27FC236}">
                <a16:creationId xmlns:a16="http://schemas.microsoft.com/office/drawing/2014/main" id="{7AA53AFD-BCB4-EDC0-B9F5-3BA905FCB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1724023"/>
            <a:ext cx="6038850" cy="48767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3239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CF428A-9131-EF35-E923-30E1C827CB33}"/>
              </a:ext>
            </a:extLst>
          </p:cNvPr>
          <p:cNvSpPr/>
          <p:nvPr/>
        </p:nvSpPr>
        <p:spPr>
          <a:xfrm>
            <a:off x="-19051" y="-19050"/>
            <a:ext cx="12220575" cy="1123950"/>
          </a:xfrm>
          <a:prstGeom prst="rect">
            <a:avLst/>
          </a:prstGeom>
          <a:solidFill>
            <a:schemeClr val="accent6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800" b="1" dirty="0">
                <a:latin typeface="Cambria" panose="02040503050406030204" pitchFamily="18" charset="0"/>
                <a:ea typeface="Cambria" panose="02040503050406030204" pitchFamily="18" charset="0"/>
              </a:rPr>
              <a:t>INTERACTIVE TABLEAU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4A52EA-9126-1420-BCC9-86B7DE7C2A0A}"/>
              </a:ext>
            </a:extLst>
          </p:cNvPr>
          <p:cNvSpPr/>
          <p:nvPr/>
        </p:nvSpPr>
        <p:spPr>
          <a:xfrm>
            <a:off x="400051" y="1447800"/>
            <a:ext cx="11391900" cy="5076825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EF0A2-5B45-F696-3A5B-86E805CEA2D5}"/>
              </a:ext>
            </a:extLst>
          </p:cNvPr>
          <p:cNvSpPr/>
          <p:nvPr/>
        </p:nvSpPr>
        <p:spPr>
          <a:xfrm>
            <a:off x="2381250" y="1638300"/>
            <a:ext cx="7591425" cy="933450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CYCLISTIC BIKE SHARE DASHBOARD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ECFB39-83BD-4006-C556-75B6BFA3565B}"/>
              </a:ext>
            </a:extLst>
          </p:cNvPr>
          <p:cNvSpPr/>
          <p:nvPr/>
        </p:nvSpPr>
        <p:spPr>
          <a:xfrm>
            <a:off x="3943348" y="2609850"/>
            <a:ext cx="5353048" cy="581025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in Tableau Public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49C8A7-0087-3AC2-5A38-D8131CA40FA7}"/>
              </a:ext>
            </a:extLst>
          </p:cNvPr>
          <p:cNvSpPr/>
          <p:nvPr/>
        </p:nvSpPr>
        <p:spPr>
          <a:xfrm>
            <a:off x="3962400" y="3371851"/>
            <a:ext cx="5353049" cy="533400"/>
          </a:xfrm>
          <a:prstGeom prst="rect">
            <a:avLst/>
          </a:prstGeom>
          <a:solidFill>
            <a:schemeClr val="accent1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Ride by rider type and day of the week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50EEEB-5DA1-B317-7B16-675AA640BD58}"/>
              </a:ext>
            </a:extLst>
          </p:cNvPr>
          <p:cNvSpPr/>
          <p:nvPr/>
        </p:nvSpPr>
        <p:spPr>
          <a:xfrm>
            <a:off x="3962398" y="3903105"/>
            <a:ext cx="5353052" cy="533400"/>
          </a:xfrm>
          <a:prstGeom prst="rect">
            <a:avLst/>
          </a:prstGeom>
          <a:solidFill>
            <a:schemeClr val="accent1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Avg ride duration breakdown by membership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4D0AB5-7C8C-087D-D458-C0BDA1C15A0A}"/>
              </a:ext>
            </a:extLst>
          </p:cNvPr>
          <p:cNvSpPr/>
          <p:nvPr/>
        </p:nvSpPr>
        <p:spPr>
          <a:xfrm>
            <a:off x="3962399" y="4577956"/>
            <a:ext cx="5353051" cy="533400"/>
          </a:xfrm>
          <a:prstGeom prst="rect">
            <a:avLst/>
          </a:prstGeom>
          <a:solidFill>
            <a:schemeClr val="accent1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Monthly ridership trends across Q1 2019 and Q1 2020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ABC5D8-313C-942E-BB37-AC963DAD0184}"/>
              </a:ext>
            </a:extLst>
          </p:cNvPr>
          <p:cNvSpPr/>
          <p:nvPr/>
        </p:nvSpPr>
        <p:spPr>
          <a:xfrm>
            <a:off x="3962399" y="5168506"/>
            <a:ext cx="5353050" cy="533400"/>
          </a:xfrm>
          <a:prstGeom prst="rect">
            <a:avLst/>
          </a:prstGeom>
          <a:solidFill>
            <a:schemeClr val="accent1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Interactive filter for deeper exploration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9A0886E-8A52-7E97-58BC-948BA427B655}"/>
              </a:ext>
            </a:extLst>
          </p:cNvPr>
          <p:cNvSpPr/>
          <p:nvPr/>
        </p:nvSpPr>
        <p:spPr>
          <a:xfrm>
            <a:off x="3501770" y="533462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1C2D6CB4-3181-AA68-7CEE-8CC91D581E10}"/>
              </a:ext>
            </a:extLst>
          </p:cNvPr>
          <p:cNvSpPr/>
          <p:nvPr/>
        </p:nvSpPr>
        <p:spPr>
          <a:xfrm>
            <a:off x="3501770" y="4734045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8A833C11-6B5B-1B1D-1274-B1B10F3B2DE3}"/>
              </a:ext>
            </a:extLst>
          </p:cNvPr>
          <p:cNvSpPr/>
          <p:nvPr/>
        </p:nvSpPr>
        <p:spPr>
          <a:xfrm>
            <a:off x="3501770" y="4169805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0D8D1EC9-9114-BBFB-5D33-093617FD59C9}"/>
              </a:ext>
            </a:extLst>
          </p:cNvPr>
          <p:cNvSpPr/>
          <p:nvPr/>
        </p:nvSpPr>
        <p:spPr>
          <a:xfrm>
            <a:off x="3501770" y="3556635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F55795-FA4F-85AE-98CB-1C6D7BBCEC3F}"/>
              </a:ext>
            </a:extLst>
          </p:cNvPr>
          <p:cNvSpPr/>
          <p:nvPr/>
        </p:nvSpPr>
        <p:spPr>
          <a:xfrm>
            <a:off x="1628775" y="5819775"/>
            <a:ext cx="9286876" cy="704850"/>
          </a:xfrm>
          <a:prstGeom prst="rect">
            <a:avLst/>
          </a:prstGeom>
          <a:solidFill>
            <a:srgbClr val="002060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https://public.tableau.com/app/profile/emmanuel.korankye/viz/GoogleDataAnalyticsCapstoneCyclisticbikeshareanalysis/BikeShareDashboard#1</a:t>
            </a:r>
            <a:endParaRPr lang="en-US" sz="1100" dirty="0">
              <a:solidFill>
                <a:schemeClr val="accent6"/>
              </a:solidFill>
            </a:endParaRPr>
          </a:p>
        </p:txBody>
      </p: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0FD8DDAA-2F3C-BC94-3D90-17F4F77865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84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09"/>
    </mc:Choice>
    <mc:Fallback xmlns="">
      <p:transition spd="slow" advTm="76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690AA2-F029-8C23-CF89-88E3F1D46003}"/>
              </a:ext>
            </a:extLst>
          </p:cNvPr>
          <p:cNvSpPr/>
          <p:nvPr/>
        </p:nvSpPr>
        <p:spPr>
          <a:xfrm>
            <a:off x="0" y="0"/>
            <a:ext cx="12192000" cy="1295400"/>
          </a:xfrm>
          <a:prstGeom prst="rect">
            <a:avLst/>
          </a:prstGeom>
          <a:solidFill>
            <a:schemeClr val="accent5">
              <a:lumMod val="75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RECOMMENDATIONS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D299EF-8108-874D-5982-357126EA28FD}"/>
              </a:ext>
            </a:extLst>
          </p:cNvPr>
          <p:cNvSpPr/>
          <p:nvPr/>
        </p:nvSpPr>
        <p:spPr>
          <a:xfrm>
            <a:off x="133350" y="1609725"/>
            <a:ext cx="11963400" cy="1504950"/>
          </a:xfrm>
          <a:prstGeom prst="roundRect">
            <a:avLst/>
          </a:prstGeom>
          <a:solidFill>
            <a:schemeClr val="bg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Weekend conversion campaigns</a:t>
            </a:r>
          </a:p>
          <a:p>
            <a:pPr lvl="3"/>
            <a:endParaRPr lang="en-US" dirty="0"/>
          </a:p>
          <a:p>
            <a:pPr lvl="3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Casual riders are most active on weekends.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Deploy targeted digital ads and in-app prompts on Friday through Sunday highlighting the savings of an annual membership for frequent weekend riders.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6EB460-A1E4-CEB9-40FF-AA6BB920C2DA}"/>
              </a:ext>
            </a:extLst>
          </p:cNvPr>
          <p:cNvSpPr/>
          <p:nvPr/>
        </p:nvSpPr>
        <p:spPr>
          <a:xfrm>
            <a:off x="133350" y="3362325"/>
            <a:ext cx="11963400" cy="1504950"/>
          </a:xfrm>
          <a:prstGeom prst="roundRect">
            <a:avLst/>
          </a:prstGeom>
          <a:noFill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3"/>
            <a:endParaRPr lang="en-US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3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Ride-Duration Milestone Rewards</a:t>
            </a:r>
          </a:p>
          <a:p>
            <a:pPr lvl="3"/>
            <a:endParaRPr lang="en-US" dirty="0">
              <a:solidFill>
                <a:schemeClr val="tx1"/>
              </a:solidFill>
            </a:endParaRPr>
          </a:p>
          <a:p>
            <a:pPr lvl="3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Since casual riders take longer trips, introduce a tiered reward: riders who accumulate X minutes per month get a discount on a membership upgrade. This leverages their existing behavior to pull them toward conversion.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706B75-3C35-9F18-4CB0-B34F82AAA0B6}"/>
              </a:ext>
            </a:extLst>
          </p:cNvPr>
          <p:cNvSpPr/>
          <p:nvPr/>
        </p:nvSpPr>
        <p:spPr>
          <a:xfrm>
            <a:off x="133350" y="5114925"/>
            <a:ext cx="11963400" cy="1504950"/>
          </a:xfrm>
          <a:prstGeom prst="roundRect">
            <a:avLst/>
          </a:prstGeom>
          <a:noFill/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rgbClr val="1E276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3"/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March Seasonal Push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lvl="3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Ridership — especially casual — surges in March. Launch a time-limited spring membership promotion in late February/early March. Pair it with social media content showcasing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Cyclistic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for recreation, not just commuting.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DCD2180-4E6B-00F3-E11F-AD4EEF954320}"/>
              </a:ext>
            </a:extLst>
          </p:cNvPr>
          <p:cNvSpPr/>
          <p:nvPr/>
        </p:nvSpPr>
        <p:spPr>
          <a:xfrm>
            <a:off x="352424" y="2065020"/>
            <a:ext cx="828675" cy="77343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01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46AF5AD9-116A-D890-B976-937420F938E4}"/>
              </a:ext>
            </a:extLst>
          </p:cNvPr>
          <p:cNvSpPr/>
          <p:nvPr/>
        </p:nvSpPr>
        <p:spPr>
          <a:xfrm>
            <a:off x="352423" y="3728085"/>
            <a:ext cx="828675" cy="77343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02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6956E2A-3E60-F6CA-DA85-6D31FA81D504}"/>
              </a:ext>
            </a:extLst>
          </p:cNvPr>
          <p:cNvSpPr/>
          <p:nvPr/>
        </p:nvSpPr>
        <p:spPr>
          <a:xfrm>
            <a:off x="352422" y="5547360"/>
            <a:ext cx="828675" cy="77343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33C59DD4-910B-2FAA-90F4-DBE6D9D79D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9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8"/>
    </mc:Choice>
    <mc:Fallback xmlns="">
      <p:transition spd="slow" advTm="2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5F6F50-B336-B5BE-8AB5-E3CC49DC15C8}"/>
              </a:ext>
            </a:extLst>
          </p:cNvPr>
          <p:cNvSpPr/>
          <p:nvPr/>
        </p:nvSpPr>
        <p:spPr>
          <a:xfrm>
            <a:off x="0" y="0"/>
            <a:ext cx="12192000" cy="1247775"/>
          </a:xfrm>
          <a:prstGeom prst="rect">
            <a:avLst/>
          </a:prstGeom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NEXT STEPS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0B3D25-8719-1024-465D-30339587E835}"/>
              </a:ext>
            </a:extLst>
          </p:cNvPr>
          <p:cNvSpPr/>
          <p:nvPr/>
        </p:nvSpPr>
        <p:spPr>
          <a:xfrm>
            <a:off x="390525" y="1543050"/>
            <a:ext cx="5248275" cy="24574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39CCB2-CACF-45FA-7ADC-52159E4A6320}"/>
              </a:ext>
            </a:extLst>
          </p:cNvPr>
          <p:cNvSpPr/>
          <p:nvPr/>
        </p:nvSpPr>
        <p:spPr>
          <a:xfrm>
            <a:off x="6296025" y="4191000"/>
            <a:ext cx="5381624" cy="24574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DD18F6-3574-0DEC-A703-0146AD99770C}"/>
              </a:ext>
            </a:extLst>
          </p:cNvPr>
          <p:cNvSpPr/>
          <p:nvPr/>
        </p:nvSpPr>
        <p:spPr>
          <a:xfrm>
            <a:off x="6296024" y="1543050"/>
            <a:ext cx="5381625" cy="24574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4BEA92-6E23-10C2-A2F4-5638AAA8D0E9}"/>
              </a:ext>
            </a:extLst>
          </p:cNvPr>
          <p:cNvSpPr/>
          <p:nvPr/>
        </p:nvSpPr>
        <p:spPr>
          <a:xfrm>
            <a:off x="390525" y="4267200"/>
            <a:ext cx="5248275" cy="24574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935B3E-8D69-89F1-9CD7-B92D7BECF60C}"/>
              </a:ext>
            </a:extLst>
          </p:cNvPr>
          <p:cNvSpPr/>
          <p:nvPr/>
        </p:nvSpPr>
        <p:spPr>
          <a:xfrm>
            <a:off x="681037" y="1828799"/>
            <a:ext cx="704850" cy="1057275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  <a:p>
            <a:pPr algn="ctr">
              <a:lnSpc>
                <a:spcPct val="300000"/>
              </a:lnSpc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316C97-0A04-47D9-A4C7-87B33AD73AE6}"/>
              </a:ext>
            </a:extLst>
          </p:cNvPr>
          <p:cNvSpPr/>
          <p:nvPr/>
        </p:nvSpPr>
        <p:spPr>
          <a:xfrm>
            <a:off x="1385887" y="2016919"/>
            <a:ext cx="3457575" cy="561975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Expand the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25B3F8-00AC-2F8E-E8D8-6B2BECE40F35}"/>
              </a:ext>
            </a:extLst>
          </p:cNvPr>
          <p:cNvSpPr/>
          <p:nvPr/>
        </p:nvSpPr>
        <p:spPr>
          <a:xfrm>
            <a:off x="995362" y="3007517"/>
            <a:ext cx="3848099" cy="838201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 full-year data (Q2–Q4) to capture summer peaks and reduce Q1 seasonality bias.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43821-816D-7FE2-87DF-1B9EACA5BDAB}"/>
              </a:ext>
            </a:extLst>
          </p:cNvPr>
          <p:cNvSpPr/>
          <p:nvPr/>
        </p:nvSpPr>
        <p:spPr>
          <a:xfrm>
            <a:off x="6562725" y="1552575"/>
            <a:ext cx="800100" cy="838200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</a:pPr>
            <a:r>
              <a:rPr lang="en-US" sz="4000" dirty="0">
                <a:solidFill>
                  <a:srgbClr val="000000"/>
                </a:solidFill>
              </a:rPr>
              <a:t>🗺️</a:t>
            </a:r>
            <a:endParaRPr lang="en-US" sz="4000" dirty="0"/>
          </a:p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BB839B-62CB-27AE-3B2A-8361208E4E48}"/>
              </a:ext>
            </a:extLst>
          </p:cNvPr>
          <p:cNvSpPr/>
          <p:nvPr/>
        </p:nvSpPr>
        <p:spPr>
          <a:xfrm>
            <a:off x="7429500" y="1905000"/>
            <a:ext cx="3581400" cy="485775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 GEO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F021F9-304D-1639-A13A-9D7BB68D792C}"/>
              </a:ext>
            </a:extLst>
          </p:cNvPr>
          <p:cNvSpPr/>
          <p:nvPr/>
        </p:nvSpPr>
        <p:spPr>
          <a:xfrm>
            <a:off x="7153275" y="2992040"/>
            <a:ext cx="3971925" cy="873919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Incorporate station-level data to identify where casual riders start and end their trips — enabling hyper-local marketing.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438450-EF88-8F7D-9480-463911873981}"/>
              </a:ext>
            </a:extLst>
          </p:cNvPr>
          <p:cNvSpPr/>
          <p:nvPr/>
        </p:nvSpPr>
        <p:spPr>
          <a:xfrm>
            <a:off x="557212" y="4648200"/>
            <a:ext cx="881063" cy="866775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🧪</a:t>
            </a:r>
            <a:endParaRPr lang="en-US" sz="4000" dirty="0"/>
          </a:p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E1C1A1-B78A-16D6-D099-406229AE5F6C}"/>
              </a:ext>
            </a:extLst>
          </p:cNvPr>
          <p:cNvSpPr/>
          <p:nvPr/>
        </p:nvSpPr>
        <p:spPr>
          <a:xfrm>
            <a:off x="1345406" y="4643437"/>
            <a:ext cx="3148012" cy="523875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A/B Test campaigns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B23008-795F-DA03-54C7-CF1C678478F1}"/>
              </a:ext>
            </a:extLst>
          </p:cNvPr>
          <p:cNvSpPr/>
          <p:nvPr/>
        </p:nvSpPr>
        <p:spPr>
          <a:xfrm>
            <a:off x="1171575" y="5599509"/>
            <a:ext cx="3321843" cy="692943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 parallel weekend and seasonal membership promos with distinct CTAs to measure conversion rates.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80FA80-F704-EA38-2857-3E174A1444D8}"/>
              </a:ext>
            </a:extLst>
          </p:cNvPr>
          <p:cNvSpPr/>
          <p:nvPr/>
        </p:nvSpPr>
        <p:spPr>
          <a:xfrm>
            <a:off x="6467475" y="4633912"/>
            <a:ext cx="914400" cy="914400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rgbClr val="000000"/>
                </a:solidFill>
              </a:rPr>
              <a:t>📱</a:t>
            </a:r>
          </a:p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3046BC-C587-5315-A6D2-28CE1CD9F059}"/>
              </a:ext>
            </a:extLst>
          </p:cNvPr>
          <p:cNvSpPr/>
          <p:nvPr/>
        </p:nvSpPr>
        <p:spPr>
          <a:xfrm>
            <a:off x="7477125" y="4572000"/>
            <a:ext cx="3533775" cy="595312"/>
          </a:xfrm>
          <a:prstGeom prst="rect">
            <a:avLst/>
          </a:prstGeom>
          <a:solidFill>
            <a:schemeClr val="bg1"/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Digital Touchpoints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22F16D-AD3A-7139-5D8E-7FBC9CDEB8F4}"/>
              </a:ext>
            </a:extLst>
          </p:cNvPr>
          <p:cNvSpPr/>
          <p:nvPr/>
        </p:nvSpPr>
        <p:spPr>
          <a:xfrm>
            <a:off x="7410450" y="5588793"/>
            <a:ext cx="3762375" cy="703659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 in-app behavior to identify the moment casual users are most likely to convert (e.g., after their 3rd long ride).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dirty="0"/>
          </a:p>
        </p:txBody>
      </p: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044C474E-EC30-0171-D79A-AA625890C2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0"/>
    </mc:Choice>
    <mc:Fallback xmlns="">
      <p:transition spd="slow" advTm="2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447DB7-F1EB-C93F-F6C3-053B17015C0F}"/>
              </a:ext>
            </a:extLst>
          </p:cNvPr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37798-EF65-97B1-E96A-68E2E1BD3B3A}"/>
              </a:ext>
            </a:extLst>
          </p:cNvPr>
          <p:cNvSpPr/>
          <p:nvPr/>
        </p:nvSpPr>
        <p:spPr>
          <a:xfrm>
            <a:off x="457200" y="-1"/>
            <a:ext cx="11734800" cy="6857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32A050-7F7F-8E48-3F76-81A95D4F9F88}"/>
              </a:ext>
            </a:extLst>
          </p:cNvPr>
          <p:cNvSpPr/>
          <p:nvPr/>
        </p:nvSpPr>
        <p:spPr>
          <a:xfrm>
            <a:off x="1066800" y="4476750"/>
            <a:ext cx="10658475" cy="21812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31BA5E-EEFF-EDF7-D752-6AEDC9677FCC}"/>
              </a:ext>
            </a:extLst>
          </p:cNvPr>
          <p:cNvSpPr/>
          <p:nvPr/>
        </p:nvSpPr>
        <p:spPr>
          <a:xfrm>
            <a:off x="704850" y="304798"/>
            <a:ext cx="7743825" cy="1590675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54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78C34-EE8C-13B2-4DD9-DE310D420412}"/>
              </a:ext>
            </a:extLst>
          </p:cNvPr>
          <p:cNvSpPr/>
          <p:nvPr/>
        </p:nvSpPr>
        <p:spPr>
          <a:xfrm>
            <a:off x="647700" y="2247900"/>
            <a:ext cx="7743825" cy="1590675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EMMANUEL BOADI KORANKYE</a:t>
            </a: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GOOGLE DATA ANALYTICS CERTIFICATE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CYCLISTIC CAPSTONE Q1 2019 AND Q1 2020</a:t>
            </a:r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1E52FE72-E194-A43A-369C-7BB2F944F95F}"/>
              </a:ext>
            </a:extLst>
          </p:cNvPr>
          <p:cNvSpPr/>
          <p:nvPr/>
        </p:nvSpPr>
        <p:spPr>
          <a:xfrm>
            <a:off x="-133350" y="1590674"/>
            <a:ext cx="6438900" cy="409577"/>
          </a:xfrm>
          <a:prstGeom prst="mathMinus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3E5655-1D8A-C6A4-3A93-16C2451E9552}"/>
              </a:ext>
            </a:extLst>
          </p:cNvPr>
          <p:cNvSpPr/>
          <p:nvPr/>
        </p:nvSpPr>
        <p:spPr>
          <a:xfrm>
            <a:off x="914400" y="4114796"/>
            <a:ext cx="5991225" cy="419100"/>
          </a:xfrm>
          <a:prstGeom prst="rect">
            <a:avLst/>
          </a:prstGeom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6"/>
                </a:solidFill>
              </a:rPr>
              <a:t>KEY TAKEAWAY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F9985-8CBE-4AB8-49D6-19C441D11A2D}"/>
              </a:ext>
            </a:extLst>
          </p:cNvPr>
          <p:cNvSpPr/>
          <p:nvPr/>
        </p:nvSpPr>
        <p:spPr>
          <a:xfrm>
            <a:off x="914400" y="4895850"/>
            <a:ext cx="10306050" cy="1104902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Casual riders use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Cyclistic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differently from members — longer rides, concentrated on weekends, peaking in spring. These patterns are not obstacles; they are opportunities. With targeted weekend campaigns, ride-milestone incentives, and a March conversion push, </a:t>
            </a:r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Cyclistic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can meaningfully grow its annual membership base.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640B46F5-FAEF-6ED0-62E6-A4B635C55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950" y="1301113"/>
            <a:ext cx="2286000" cy="1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64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</TotalTime>
  <Words>857</Words>
  <Application>Microsoft Office PowerPoint</Application>
  <PresentationFormat>Widescreen</PresentationFormat>
  <Paragraphs>132</Paragraphs>
  <Slides>12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Bauhaus 93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B Korankye</dc:creator>
  <cp:lastModifiedBy>Emmanuel B Korankye</cp:lastModifiedBy>
  <cp:revision>7</cp:revision>
  <dcterms:created xsi:type="dcterms:W3CDTF">2026-06-29T21:44:20Z</dcterms:created>
  <dcterms:modified xsi:type="dcterms:W3CDTF">2026-07-01T02:06:35Z</dcterms:modified>
</cp:coreProperties>
</file>